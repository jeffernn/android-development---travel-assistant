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7895" y="2694305"/>
            <a:ext cx="7772400" cy="1470025"/>
          </a:xfrm>
        </p:spPr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途易助手—期末项目成果演示</a:t>
            </a:r>
          </a:p>
        </p:txBody>
      </p:sp>
      <p:pic>
        <p:nvPicPr>
          <p:cNvPr id="4" name="Picture 2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90" y="113665"/>
            <a:ext cx="4341495" cy="973455"/>
          </a:xfrm>
          <a:prstGeom prst="rect">
            <a:avLst/>
          </a:prstGeom>
        </p:spPr>
      </p:pic>
      <p:sp>
        <p:nvSpPr>
          <p:cNvPr id="5" name="副标题 4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006496"/>
                </a:solidFill>
              </a:defRPr>
            </a:pPr>
            <a:r>
              <a:t>项目业务背景:</a:t>
            </a:r>
          </a:p>
          <a:p>
            <a:pPr>
              <a:defRPr sz="1600"/>
            </a:pPr>
            <a:r>
              <a:t>基于Android平台的个人旅行日记应用"途易助手"的开发，在当今快节奏的生活中，人们经常外出旅行，希望能够记录下旅途中的美好时光、重要地点和感受。</a:t>
            </a:r>
          </a:p>
          <a:p>
            <a:pPr>
              <a:defRPr sz="1800" b="1">
                <a:solidFill>
                  <a:srgbClr val="006496"/>
                </a:solidFill>
              </a:defRPr>
            </a:pPr>
            <a:r>
              <a:t>核心技术栈:</a:t>
            </a:r>
          </a:p>
          <a:p>
            <a:pPr>
              <a:defRPr sz="1600"/>
            </a:pPr>
            <a:r>
              <a:t>• Jetpack Compose • ViewModel • Navigation • Retrofit • Room • DataStore</a:t>
            </a:r>
          </a:p>
          <a:p>
            <a:pPr>
              <a:defRPr sz="1800" b="1">
                <a:solidFill>
                  <a:srgbClr val="006496"/>
                </a:solidFill>
              </a:defRPr>
            </a:pPr>
            <a:r>
              <a:t>项目意义:</a:t>
            </a:r>
          </a:p>
          <a:p>
            <a:pPr>
              <a:defRPr sz="1600"/>
            </a:pPr>
            <a:r>
              <a:t>• 技术学习：完整实现现代Android开发推荐架构模式</a:t>
            </a:r>
          </a:p>
          <a:p>
            <a:pPr>
              <a:defRPr sz="1600"/>
            </a:pPr>
            <a:r>
              <a:t>• 实用价值：为用户提供完整的旅行记忆管理解决方案</a:t>
            </a:r>
          </a:p>
          <a:p>
            <a:pPr>
              <a:defRPr sz="1600"/>
            </a:pPr>
            <a:r>
              <a:t>• 教育价值：全面展示对Android开发技术的掌握程度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业务需求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006496"/>
                </a:solidFill>
              </a:defRPr>
            </a:pPr>
            <a:r>
              <a:t>核心功能需求:</a:t>
            </a:r>
          </a:p>
          <a:p>
            <a:pPr>
              <a:defRPr sz="1600"/>
            </a:pPr>
            <a:r>
              <a:t>• 用户可以创建、编辑、删除旅行记录，包括标题、描述、日期等基本信息</a:t>
            </a:r>
          </a:p>
          <a:p>
            <a:pPr>
              <a:defRPr sz="1600"/>
            </a:pPr>
            <a:r>
              <a:t>• 支持添加旅行照片，提供拍照和从相册选择的功能</a:t>
            </a:r>
          </a:p>
          <a:p>
            <a:pPr>
              <a:defRPr sz="1600"/>
            </a:pPr>
            <a:r>
              <a:t>• 记录旅行中的具体位置信息且可能集成地图服务</a:t>
            </a:r>
          </a:p>
          <a:p>
            <a:pPr>
              <a:defRPr sz="1600"/>
            </a:pPr>
            <a:r>
              <a:t>• 所有旅行记录安全地存储在本地数据库中</a:t>
            </a:r>
          </a:p>
          <a:p>
            <a:pPr>
              <a:defRPr sz="1800" b="1">
                <a:solidFill>
                  <a:srgbClr val="006496"/>
                </a:solidFill>
              </a:defRPr>
            </a:pPr>
            <a:r>
              <a:t>用户体验需求:</a:t>
            </a:r>
          </a:p>
          <a:p>
            <a:pPr>
              <a:defRPr sz="1600"/>
            </a:pPr>
            <a:r>
              <a:t>• 采用现代化的Jetpack Compose框架，提供流畅、美观的直观用户界面</a:t>
            </a:r>
          </a:p>
          <a:p>
            <a:pPr>
              <a:defRPr sz="1600"/>
            </a:pPr>
            <a:r>
              <a:t>• 通过Navigation组件实现页面间的无缝跳转</a:t>
            </a:r>
          </a:p>
          <a:p>
            <a:pPr>
              <a:defRPr sz="1600"/>
            </a:pPr>
            <a:r>
              <a:t>• 支持用户按关键词搜索历史旅行记录</a:t>
            </a:r>
          </a:p>
          <a:p>
            <a:pPr>
              <a:defRPr sz="1600"/>
            </a:pPr>
            <a:r>
              <a:t>• 具备深色主题等个性化设置功能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技术架构需求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006496"/>
                </a:solidFill>
              </a:defRPr>
            </a:pPr>
            <a:r>
              <a:t>架构模式:</a:t>
            </a:r>
          </a:p>
          <a:p>
            <a:pPr>
              <a:defRPr sz="1600"/>
            </a:pPr>
            <a:r>
              <a:t>• 采用MVVM架构模式实现UI层、业务逻辑层和数据层的清晰分离</a:t>
            </a:r>
          </a:p>
          <a:p>
            <a:pPr>
              <a:defRPr sz="1600"/>
            </a:pPr>
            <a:r>
              <a:t>• 使用StateFlow和协程实现响应式UI更新</a:t>
            </a:r>
          </a:p>
          <a:p>
            <a:pPr>
              <a:defRPr sz="1800" b="1">
                <a:solidFill>
                  <a:srgbClr val="006496"/>
                </a:solidFill>
              </a:defRPr>
            </a:pPr>
            <a:r>
              <a:t>技术组件:</a:t>
            </a:r>
          </a:p>
          <a:p>
            <a:pPr>
              <a:defRPr sz="1600"/>
            </a:pPr>
            <a:r>
              <a:t>• 通过Retrofit集成地理编码等网络服务</a:t>
            </a:r>
          </a:p>
          <a:p>
            <a:pPr>
              <a:defRPr sz="1600"/>
            </a:pPr>
            <a:r>
              <a:t>• 借助Hilt实现依赖注入以提高代码的可维护性</a:t>
            </a:r>
          </a:p>
          <a:p>
            <a:pPr>
              <a:defRPr sz="1600"/>
            </a:pPr>
            <a:r>
              <a:t>• 使用Room数据库存储旅行数据、DataStore存储用户偏好</a:t>
            </a:r>
          </a:p>
          <a:p>
            <a:pPr>
              <a:defRPr sz="1800" b="1">
                <a:solidFill>
                  <a:srgbClr val="006496"/>
                </a:solidFill>
              </a:defRPr>
            </a:pPr>
            <a:r>
              <a:t>性能和安全:</a:t>
            </a:r>
          </a:p>
          <a:p>
            <a:pPr>
              <a:defRPr sz="1600"/>
            </a:pPr>
            <a:r>
              <a:t>• 本地数据存储安全可靠以防止数据泄露</a:t>
            </a:r>
          </a:p>
          <a:p>
            <a:pPr>
              <a:defRPr sz="1600"/>
            </a:pPr>
            <a:r>
              <a:t>• 应用需要快速响应并提供流畅的用户体验</a:t>
            </a:r>
          </a:p>
          <a:p>
            <a:pPr>
              <a:defRPr sz="1600"/>
            </a:pPr>
            <a:r>
              <a:t>• 合理管理内存使用，避免内存泄漏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开发环境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006496"/>
                </a:solidFill>
              </a:defRPr>
            </a:pPr>
            <a:r>
              <a:t>软件开发环境:</a:t>
            </a:r>
          </a:p>
          <a:p>
            <a:pPr>
              <a:defRPr sz="1600"/>
            </a:pPr>
            <a:r>
              <a:t>• Kotlin 1.9+</a:t>
            </a:r>
          </a:p>
          <a:p>
            <a:pPr>
              <a:defRPr sz="1600"/>
            </a:pPr>
            <a:r>
              <a:t>• Android Studio 2023.2.1+</a:t>
            </a:r>
          </a:p>
          <a:p>
            <a:pPr>
              <a:defRPr sz="1600"/>
            </a:pPr>
            <a:r>
              <a:t>• Gradle 8.13</a:t>
            </a:r>
          </a:p>
          <a:p>
            <a:pPr>
              <a:defRPr sz="1800" b="1">
                <a:solidFill>
                  <a:srgbClr val="006496"/>
                </a:solidFill>
              </a:defRPr>
            </a:pPr>
            <a:r>
              <a:t>数据库管理系统:</a:t>
            </a:r>
          </a:p>
          <a:p>
            <a:pPr>
              <a:defRPr sz="1600"/>
            </a:pPr>
            <a:r>
              <a:t>• 采用Room（SQLite）数据库</a:t>
            </a:r>
          </a:p>
          <a:p>
            <a:pPr>
              <a:defRPr sz="1600"/>
            </a:pPr>
            <a:r>
              <a:t>• 包含2个表：trips表和locations表</a:t>
            </a:r>
          </a:p>
          <a:p>
            <a:pPr>
              <a:defRPr sz="1800" b="1">
                <a:solidFill>
                  <a:srgbClr val="006496"/>
                </a:solidFill>
              </a:defRPr>
            </a:pPr>
            <a:r>
              <a:t>trips表结构:</a:t>
            </a:r>
          </a:p>
          <a:p>
            <a:pPr>
              <a:defRPr sz="1600"/>
            </a:pPr>
            <a:r>
              <a:t>• id: Long (主键，自动生成)</a:t>
            </a:r>
          </a:p>
          <a:p>
            <a:pPr>
              <a:defRPr sz="1600"/>
            </a:pPr>
            <a:r>
              <a:t>• title: String (标题)</a:t>
            </a:r>
          </a:p>
          <a:p>
            <a:pPr>
              <a:defRPr sz="1600"/>
            </a:pPr>
            <a:r>
              <a:t>• description: String (描述)</a:t>
            </a:r>
          </a:p>
          <a:p>
            <a:pPr>
              <a:defRPr sz="1600"/>
            </a:pPr>
            <a:r>
              <a:t>• date: String (日期)</a:t>
            </a:r>
          </a:p>
          <a:p>
            <a:pPr>
              <a:defRPr sz="1600"/>
            </a:pPr>
            <a:r>
              <a:t>• photo_path: String? (照片路径，可为空)</a:t>
            </a:r>
          </a:p>
          <a:p>
            <a:pPr>
              <a:defRPr sz="1600"/>
            </a:pPr>
            <a:r>
              <a:t>• created_at: Long (创建时间)</a:t>
            </a:r>
          </a:p>
          <a:p>
            <a:pPr>
              <a:defRPr sz="1600"/>
            </a:pPr>
            <a:r>
              <a:t>• updated_at: Long (更新时间)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数据库结构与第三方库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006496"/>
                </a:solidFill>
              </a:defRPr>
            </a:pPr>
            <a:r>
              <a:t>locations表结构:</a:t>
            </a:r>
          </a:p>
          <a:p>
            <a:pPr>
              <a:defRPr sz="1600"/>
            </a:pPr>
            <a:r>
              <a:t>• id: Long (主键，自动生成)</a:t>
            </a:r>
          </a:p>
          <a:p>
            <a:pPr>
              <a:defRPr sz="1600"/>
            </a:pPr>
            <a:r>
              <a:t>• trip_id: Long (外键，关联trips表)</a:t>
            </a:r>
          </a:p>
          <a:p>
            <a:pPr>
              <a:defRPr sz="1600"/>
            </a:pPr>
            <a:r>
              <a:t>• name: String (位置名称)</a:t>
            </a:r>
          </a:p>
          <a:p>
            <a:pPr>
              <a:defRPr sz="1600"/>
            </a:pPr>
            <a:r>
              <a:t>• latitude: Double (纬度)</a:t>
            </a:r>
          </a:p>
          <a:p>
            <a:pPr>
              <a:defRPr sz="1600"/>
            </a:pPr>
            <a:r>
              <a:t>• longitude: Double (经度)</a:t>
            </a:r>
          </a:p>
          <a:p>
            <a:pPr>
              <a:defRPr sz="1600"/>
            </a:pPr>
            <a:r>
              <a:t>• address: String (地址)</a:t>
            </a:r>
          </a:p>
          <a:p>
            <a:pPr>
              <a:defRPr sz="1600"/>
            </a:pPr>
            <a:r>
              <a:t>• created_at: Long (创建时间)</a:t>
            </a:r>
          </a:p>
          <a:p>
            <a:pPr>
              <a:defRPr sz="1600"/>
            </a:pPr>
            <a:r>
              <a:t>• updated_at: Long (更新时间)</a:t>
            </a:r>
          </a:p>
          <a:p>
            <a:pPr>
              <a:defRPr sz="1800" b="1">
                <a:solidFill>
                  <a:srgbClr val="006496"/>
                </a:solidFill>
              </a:defRPr>
            </a:pPr>
            <a:r>
              <a:t>主要第三方库:</a:t>
            </a:r>
          </a:p>
          <a:p>
            <a:pPr>
              <a:defRPr sz="1600"/>
            </a:pPr>
            <a:r>
              <a:t>• UI和框架库：Jetpack Compose, Navigation</a:t>
            </a:r>
          </a:p>
          <a:p>
            <a:pPr>
              <a:defRPr sz="1600"/>
            </a:pPr>
            <a:r>
              <a:t>• 数据库和存储库：Room, DataStore</a:t>
            </a:r>
          </a:p>
          <a:p>
            <a:pPr>
              <a:defRPr sz="1600"/>
            </a:pPr>
            <a:r>
              <a:t>• 网络和数据处理库：Retrofit, Moshi, Coil</a:t>
            </a:r>
          </a:p>
          <a:p>
            <a:pPr>
              <a:defRPr sz="1600"/>
            </a:pPr>
            <a:r>
              <a:t>• 依赖注入库：Hilt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309620" y="-317"/>
            <a:ext cx="8229600" cy="1143000"/>
          </a:xfrm>
        </p:spPr>
        <p:txBody>
          <a:bodyPr/>
          <a:lstStyle/>
          <a:p>
            <a:r>
              <a:t>首页</a:t>
            </a:r>
          </a:p>
        </p:txBody>
      </p:sp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0010" y="1202436"/>
            <a:ext cx="2348931" cy="51846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添加页</a:t>
            </a:r>
          </a:p>
        </p:txBody>
      </p:sp>
      <p:pic>
        <p:nvPicPr>
          <p:cNvPr id="3" name="Picture 2" descr="image3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7930" y="1202436"/>
            <a:ext cx="2333091" cy="51846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编辑页</a:t>
            </a:r>
          </a:p>
        </p:txBody>
      </p:sp>
      <p:pic>
        <p:nvPicPr>
          <p:cNvPr id="3" name="Picture 2" descr="image4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7930" y="1202436"/>
            <a:ext cx="2333091" cy="51846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汇率计算器页</a:t>
            </a:r>
          </a:p>
        </p:txBody>
      </p:sp>
      <p:pic>
        <p:nvPicPr>
          <p:cNvPr id="3" name="Picture 2" descr="image5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7930" y="1202436"/>
            <a:ext cx="2333091" cy="51846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翻译页</a:t>
            </a:r>
          </a:p>
        </p:txBody>
      </p:sp>
      <p:pic>
        <p:nvPicPr>
          <p:cNvPr id="3" name="Picture 2" descr="image6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7930" y="1202436"/>
            <a:ext cx="2333091" cy="51846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天气页</a:t>
            </a:r>
          </a:p>
        </p:txBody>
      </p:sp>
      <p:pic>
        <p:nvPicPr>
          <p:cNvPr id="3" name="Picture 2" descr="image7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7930" y="1202436"/>
            <a:ext cx="2333091" cy="51846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天气页 - 续</a:t>
            </a:r>
          </a:p>
        </p:txBody>
      </p:sp>
      <p:pic>
        <p:nvPicPr>
          <p:cNvPr id="3" name="Picture 2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7930" y="1202436"/>
            <a:ext cx="2333091" cy="51846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其他功能截图</a:t>
            </a:r>
          </a:p>
        </p:txBody>
      </p:sp>
      <p:pic>
        <p:nvPicPr>
          <p:cNvPr id="3" name="Picture 2" descr="image9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7930" y="1202436"/>
            <a:ext cx="2333091" cy="51846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学习成果与收获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006496"/>
                </a:solidFill>
              </a:defRPr>
            </a:pPr>
            <a:r>
              <a:t>学到的新知识:</a:t>
            </a:r>
          </a:p>
          <a:p>
            <a:pPr>
              <a:defRPr sz="1600"/>
            </a:pPr>
            <a:r>
              <a:t>• 掌握Jetpack Compose框架，理解声明式UI编程范式</a:t>
            </a:r>
          </a:p>
          <a:p>
            <a:pPr>
              <a:defRPr sz="1600"/>
            </a:pPr>
            <a:r>
              <a:t>• 深入理解MVVM架构模式和Repository模式</a:t>
            </a:r>
          </a:p>
          <a:p>
            <a:pPr>
              <a:defRPr sz="1600"/>
            </a:pPr>
            <a:r>
              <a:t>• 学习Room数据库和DataStore的使用</a:t>
            </a:r>
          </a:p>
          <a:p>
            <a:pPr>
              <a:defRPr sz="1600"/>
            </a:pPr>
            <a:r>
              <a:t>• 通过Retrofit实现HTTP请求和JSON数据处理</a:t>
            </a:r>
          </a:p>
          <a:p>
            <a:pPr>
              <a:defRPr sz="1600"/>
            </a:pPr>
            <a:r>
              <a:t>• 使用Hilt框架实现依赖注入</a:t>
            </a:r>
          </a:p>
          <a:p>
            <a:pPr>
              <a:defRPr sz="1600"/>
            </a:pPr>
            <a:r>
              <a:t>• 掌握Kotlin Coroutines和Flow的使用</a:t>
            </a:r>
          </a:p>
          <a:p>
            <a:pPr>
              <a:defRPr sz="1800" b="1">
                <a:solidFill>
                  <a:srgbClr val="006496"/>
                </a:solidFill>
              </a:defRPr>
            </a:pPr>
            <a:r>
              <a:t>获得的收获:</a:t>
            </a:r>
          </a:p>
          <a:p>
            <a:pPr>
              <a:defRPr sz="1600"/>
            </a:pPr>
            <a:r>
              <a:t>• 提升系统架构设计能力</a:t>
            </a:r>
          </a:p>
          <a:p>
            <a:pPr>
              <a:defRPr sz="1600"/>
            </a:pPr>
            <a:r>
              <a:t>• 熟练掌握现代化开发工具</a:t>
            </a:r>
          </a:p>
          <a:p>
            <a:pPr>
              <a:defRPr sz="1600"/>
            </a:pPr>
            <a:r>
              <a:t>• 提高代码质量意识</a:t>
            </a:r>
          </a:p>
          <a:p>
            <a:pPr>
              <a:defRPr sz="1600"/>
            </a:pPr>
            <a:r>
              <a:t>• 提升问题解决能力</a:t>
            </a:r>
          </a:p>
          <a:p>
            <a:pPr>
              <a:defRPr sz="1600"/>
            </a:pPr>
            <a:r>
              <a:t>• 增强用户体验思维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项目不足与改进方向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006496"/>
                </a:solidFill>
              </a:defRPr>
            </a:pPr>
            <a:r>
              <a:t>存在的不足:</a:t>
            </a:r>
          </a:p>
          <a:p>
            <a:pPr>
              <a:defRPr sz="1600"/>
            </a:pPr>
            <a:r>
              <a:t>• 功能创新性不足，主要是技术整合而非功能创新</a:t>
            </a:r>
          </a:p>
          <a:p>
            <a:pPr>
              <a:defRPr sz="1600"/>
            </a:pPr>
            <a:r>
              <a:t>• 错误处理机制有待完善</a:t>
            </a:r>
          </a:p>
          <a:p>
            <a:pPr>
              <a:defRPr sz="1600"/>
            </a:pPr>
            <a:r>
              <a:t>• 代码复用性有待提高</a:t>
            </a:r>
          </a:p>
          <a:p>
            <a:pPr>
              <a:defRPr sz="1600"/>
            </a:pPr>
            <a:r>
              <a:t>• 测试覆盖不足</a:t>
            </a:r>
          </a:p>
          <a:p>
            <a:pPr>
              <a:defRPr sz="1600"/>
            </a:pPr>
            <a:r>
              <a:t>• 安全性考虑还需加强</a:t>
            </a:r>
          </a:p>
          <a:p>
            <a:pPr>
              <a:defRPr sz="1800" b="1">
                <a:solidFill>
                  <a:srgbClr val="006496"/>
                </a:solidFill>
              </a:defRPr>
            </a:pPr>
            <a:r>
              <a:t>需要完善的方面:</a:t>
            </a:r>
          </a:p>
          <a:p>
            <a:pPr>
              <a:defRPr sz="1600"/>
            </a:pPr>
            <a:r>
              <a:t>• 完善位置信息功能，集成地图服务</a:t>
            </a:r>
          </a:p>
          <a:p>
            <a:pPr>
              <a:defRPr sz="1600"/>
            </a:pPr>
            <a:r>
              <a:t>• 增强离线支持和云端数据同步</a:t>
            </a:r>
          </a:p>
          <a:p>
            <a:pPr>
              <a:defRPr sz="1600"/>
            </a:pPr>
            <a:r>
              <a:t>• 优化性能，添加多语言支持</a:t>
            </a:r>
          </a:p>
          <a:p>
            <a:pPr>
              <a:defRPr sz="1600"/>
            </a:pPr>
            <a:r>
              <a:t>• 加强无障碍功能和数据安全保护</a:t>
            </a:r>
          </a:p>
          <a:p>
            <a:pPr>
              <a:defRPr sz="1600"/>
            </a:pPr>
            <a:r>
              <a:t>• 实现数据备份与恢复功能</a:t>
            </a:r>
          </a:p>
          <a:p>
            <a:pPr>
              <a:defRPr sz="1600"/>
            </a:pPr>
            <a:r>
              <a:t>• 添加推送通知和社交分享功能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006496"/>
                </a:solidFill>
              </a:defRPr>
            </a:pPr>
            <a:r>
              <a:t>项目成果:</a:t>
            </a:r>
          </a:p>
          <a:p>
            <a:pPr>
              <a:defRPr sz="1600"/>
            </a:pPr>
            <a:r>
              <a:t>经过2个月的设计与开发，成功完成了"途易助手"Android应用</a:t>
            </a:r>
          </a:p>
          <a:p>
            <a:pPr>
              <a:defRPr sz="1800" b="1">
                <a:solidFill>
                  <a:srgbClr val="006496"/>
                </a:solidFill>
              </a:defRPr>
            </a:pPr>
            <a:r>
              <a:t>技术价值:</a:t>
            </a:r>
          </a:p>
          <a:p>
            <a:pPr>
              <a:defRPr sz="1600"/>
            </a:pPr>
            <a:r>
              <a:t>• 掌握了现代化Android开发技术栈</a:t>
            </a:r>
          </a:p>
          <a:p>
            <a:pPr>
              <a:defRPr sz="1600"/>
            </a:pPr>
            <a:r>
              <a:t>• 实践了MVVM架构模式和最佳实践</a:t>
            </a:r>
          </a:p>
          <a:p>
            <a:pPr>
              <a:defRPr sz="1600"/>
            </a:pPr>
            <a:r>
              <a:t>• 构建了功能完整的旅行记录应用</a:t>
            </a:r>
          </a:p>
          <a:p>
            <a:pPr>
              <a:defRPr sz="1800" b="1">
                <a:solidFill>
                  <a:srgbClr val="006496"/>
                </a:solidFill>
              </a:defRPr>
            </a:pPr>
            <a:r>
              <a:t>经验收获:</a:t>
            </a:r>
          </a:p>
          <a:p>
            <a:pPr>
              <a:defRPr sz="1600"/>
            </a:pPr>
            <a:r>
              <a:t>• 培养了系统性思考和解决问题的能力</a:t>
            </a:r>
          </a:p>
          <a:p>
            <a:pPr>
              <a:defRPr sz="1600"/>
            </a:pPr>
            <a:r>
              <a:t>• 学会了在有限时间内完成功能完整、架构清晰的应用程序</a:t>
            </a:r>
          </a:p>
          <a:p>
            <a:pPr>
              <a:defRPr sz="1600"/>
            </a:pPr>
            <a:r>
              <a:t>• 为今后的开发工作奠定了坚实基础</a:t>
            </a:r>
          </a:p>
          <a:p>
            <a:pPr>
              <a:defRPr sz="1800" b="1">
                <a:solidFill>
                  <a:srgbClr val="006496"/>
                </a:solidFill>
              </a:defRPr>
            </a:pPr>
            <a:r>
              <a:t>未来展望:</a:t>
            </a:r>
          </a:p>
          <a:p>
            <a:pPr>
              <a:defRPr sz="1600"/>
            </a:pPr>
            <a:r>
              <a:t>• 继续完善功能和用户体验</a:t>
            </a:r>
          </a:p>
          <a:p>
            <a:pPr>
              <a:defRPr sz="1600"/>
            </a:pPr>
            <a:r>
              <a:t>• 关注新技术发展，持续优化应用性能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1958</Words>
  <Application>WPS 演示</Application>
  <PresentationFormat>On-screen Show (4:3)</PresentationFormat>
  <Paragraphs>139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Arial</vt:lpstr>
      <vt:lpstr>汉仪书宋二KW</vt:lpstr>
      <vt:lpstr>Calibri</vt:lpstr>
      <vt:lpstr>Helvetica Neue</vt:lpstr>
      <vt:lpstr>宋体</vt:lpstr>
      <vt:lpstr>微软雅黑</vt:lpstr>
      <vt:lpstr>汉仪旗黑</vt:lpstr>
      <vt:lpstr>Arial Unicode MS</vt:lpstr>
      <vt:lpstr>Office Theme</vt:lpstr>
      <vt:lpstr>途易助手—期末项目成果演示</vt:lpstr>
      <vt:lpstr>项目概述</vt:lpstr>
      <vt:lpstr>业务需求</vt:lpstr>
      <vt:lpstr>技术架构需求</vt:lpstr>
      <vt:lpstr>开发环境</vt:lpstr>
      <vt:lpstr>数据库结构与第三方库</vt:lpstr>
      <vt:lpstr>首页</vt:lpstr>
      <vt:lpstr>添加页</vt:lpstr>
      <vt:lpstr>编辑页</vt:lpstr>
      <vt:lpstr>汇率计算器页</vt:lpstr>
      <vt:lpstr>翻译页</vt:lpstr>
      <vt:lpstr>天气页</vt:lpstr>
      <vt:lpstr>天气页 - 续</vt:lpstr>
      <vt:lpstr>其他功能截图</vt:lpstr>
      <vt:lpstr>学习成果与收获</vt:lpstr>
      <vt:lpstr>项目不足与改进方向</vt:lpstr>
      <vt:lpstr>项目总结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Perfect.</cp:lastModifiedBy>
  <cp:revision>4</cp:revision>
  <dcterms:created xsi:type="dcterms:W3CDTF">2026-01-10T09:38:27Z</dcterms:created>
  <dcterms:modified xsi:type="dcterms:W3CDTF">2026-01-10T09:38:27Z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D6603A3BCEB9BCFA4E0F62693449D1B8_42</vt:lpwstr>
  </property>
  <property fmtid="{D5CDD505-2E9C-101B-9397-08002B2CF9AE}" pid="3" name="KSOProductBuildVer">
    <vt:lpwstr>2052-12.1.24031.24031</vt:lpwstr>
  </property>
</Properties>
</file>